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260" r:id="rId4"/>
    <p:sldId id="257" r:id="rId5"/>
    <p:sldId id="269" r:id="rId6"/>
    <p:sldId id="259" r:id="rId7"/>
    <p:sldId id="261" r:id="rId8"/>
    <p:sldId id="270" r:id="rId9"/>
    <p:sldId id="262" r:id="rId10"/>
    <p:sldId id="263" r:id="rId11"/>
    <p:sldId id="264" r:id="rId12"/>
    <p:sldId id="271" r:id="rId13"/>
    <p:sldId id="265"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05F9B0-32EC-4A41-8138-4A3811E2D42D}" type="datetimeFigureOut">
              <a:rPr lang="en-IN" smtClean="0"/>
              <a:t>27-03-2026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8C7141-770B-465D-97F5-5DB452E2AD66}" type="slidenum">
              <a:rPr lang="en-IN" smtClean="0"/>
              <a:t>‹#›</a:t>
            </a:fld>
            <a:endParaRPr lang="en-IN"/>
          </a:p>
        </p:txBody>
      </p:sp>
    </p:spTree>
    <p:extLst>
      <p:ext uri="{BB962C8B-B14F-4D97-AF65-F5344CB8AC3E}">
        <p14:creationId xmlns:p14="http://schemas.microsoft.com/office/powerpoint/2010/main" val="1538598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8C7141-770B-465D-97F5-5DB452E2AD66}" type="slidenum">
              <a:rPr lang="en-IN" smtClean="0"/>
              <a:t>1</a:t>
            </a:fld>
            <a:endParaRPr lang="en-IN"/>
          </a:p>
        </p:txBody>
      </p:sp>
    </p:spTree>
    <p:extLst>
      <p:ext uri="{BB962C8B-B14F-4D97-AF65-F5344CB8AC3E}">
        <p14:creationId xmlns:p14="http://schemas.microsoft.com/office/powerpoint/2010/main" val="1352101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98C7141-770B-465D-97F5-5DB452E2AD66}" type="slidenum">
              <a:rPr lang="en-IN" smtClean="0"/>
              <a:t>4</a:t>
            </a:fld>
            <a:endParaRPr lang="en-IN"/>
          </a:p>
        </p:txBody>
      </p:sp>
    </p:spTree>
    <p:extLst>
      <p:ext uri="{BB962C8B-B14F-4D97-AF65-F5344CB8AC3E}">
        <p14:creationId xmlns:p14="http://schemas.microsoft.com/office/powerpoint/2010/main" val="25557123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C0E7E-CE6F-5B0D-555C-062A606804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29E79CE-8C1E-405D-0C31-A76E458727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E3679EE-378B-2372-3791-F99A80559397}"/>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5" name="Footer Placeholder 4">
            <a:extLst>
              <a:ext uri="{FF2B5EF4-FFF2-40B4-BE49-F238E27FC236}">
                <a16:creationId xmlns:a16="http://schemas.microsoft.com/office/drawing/2014/main" id="{9939266F-150B-4262-742D-FD22940A31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EC6DFF-411B-6864-0394-921109A4E11F}"/>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1631156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3C3D4-D2C1-D7C2-5600-9FB14CB863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AF83CB-5798-5319-EC89-C74B773329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AAF0F8-2356-585E-3336-D4782E1281F7}"/>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5" name="Footer Placeholder 4">
            <a:extLst>
              <a:ext uri="{FF2B5EF4-FFF2-40B4-BE49-F238E27FC236}">
                <a16:creationId xmlns:a16="http://schemas.microsoft.com/office/drawing/2014/main" id="{7B227E8F-4388-A16C-D056-9B5DA528F3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C4D86D-76AC-0690-4AB2-5FFD2DE2A3F1}"/>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1443124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38337-BD41-2026-9D4C-E5CDDD698F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98F214-4E85-8BD1-25C3-12536BDCE4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DF4588-2ABC-D24C-AA5B-F023F0FD36B9}"/>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5" name="Footer Placeholder 4">
            <a:extLst>
              <a:ext uri="{FF2B5EF4-FFF2-40B4-BE49-F238E27FC236}">
                <a16:creationId xmlns:a16="http://schemas.microsoft.com/office/drawing/2014/main" id="{A2FF12A2-02A7-D221-638C-8E6AC2D4BE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3227F9-244A-B4AA-A1BF-2E43F92C6A7E}"/>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3039195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5DFA1-DCF4-A2DE-A131-5B24A1F32F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CCB5E9-63B7-57FC-D1BA-EE960A5361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03D5B2A-121D-F98C-3F37-A09AE92337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F2E3C7-3733-2B0D-1FF6-8B812F21C0FF}"/>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6" name="Footer Placeholder 5">
            <a:extLst>
              <a:ext uri="{FF2B5EF4-FFF2-40B4-BE49-F238E27FC236}">
                <a16:creationId xmlns:a16="http://schemas.microsoft.com/office/drawing/2014/main" id="{261ECE99-0B53-7D29-CF21-B48C630653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6FCE2E-1583-0E97-43D3-F2C991A0207C}"/>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524067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33060-BCC1-A419-5768-1058135C214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D11A9C-AF54-9876-BC9B-2634DDC489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D3BE23-9442-7FEB-BDEE-5B6C18CD40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3069CF5-110A-0C7F-C214-1B31641225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F307715-58F4-6562-D8EA-8921669B24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9B7766-FAF3-F6E8-75A8-133B66A1C694}"/>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8" name="Footer Placeholder 7">
            <a:extLst>
              <a:ext uri="{FF2B5EF4-FFF2-40B4-BE49-F238E27FC236}">
                <a16:creationId xmlns:a16="http://schemas.microsoft.com/office/drawing/2014/main" id="{29905A9C-DF52-7621-037A-95F0DA5984B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C5A09E-C4AD-BB08-7A1C-E3FAB33C2A55}"/>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3791671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145C0-0780-8CC5-1039-856AC141E2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D14CECC-1245-22B8-47A0-9D780EF406F3}"/>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4" name="Footer Placeholder 3">
            <a:extLst>
              <a:ext uri="{FF2B5EF4-FFF2-40B4-BE49-F238E27FC236}">
                <a16:creationId xmlns:a16="http://schemas.microsoft.com/office/drawing/2014/main" id="{8958CF6A-0286-7AA6-4E41-1188BA610D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D373981-EFB5-8E54-6D74-2DEE5DB48BFA}"/>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527133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BE1AE3-AA8C-CCC9-6EC9-CED24C8789A9}"/>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3" name="Footer Placeholder 2">
            <a:extLst>
              <a:ext uri="{FF2B5EF4-FFF2-40B4-BE49-F238E27FC236}">
                <a16:creationId xmlns:a16="http://schemas.microsoft.com/office/drawing/2014/main" id="{E42F61A6-159A-7D1B-721E-CE4FF7F6BBA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3DDC6A-E4E2-3DA0-6847-6068E22DD7A3}"/>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285784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1313B-CE72-6F18-B5BF-D8AE6B4040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EC6A39F-AB49-7CC6-8EF8-1E95BEFD1C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9A226CF-7338-8385-FAAF-C82006EF2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BDE78E-A9A4-C075-C7C8-F4A19CBBAE55}"/>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6" name="Footer Placeholder 5">
            <a:extLst>
              <a:ext uri="{FF2B5EF4-FFF2-40B4-BE49-F238E27FC236}">
                <a16:creationId xmlns:a16="http://schemas.microsoft.com/office/drawing/2014/main" id="{64043445-4B4A-ACCD-5803-FB0A4715D6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B65FD6-FD0D-0371-53F8-FBFB461FB055}"/>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342731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866F6-2C12-D9EC-9EBC-95A2BC9D6B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20CB545-8480-C1D7-F256-939AF19E48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60889C3-EE6B-ED14-2CF8-FDCBCDB328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361EE7-D3C6-879C-9FC8-0F787898C640}"/>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6" name="Footer Placeholder 5">
            <a:extLst>
              <a:ext uri="{FF2B5EF4-FFF2-40B4-BE49-F238E27FC236}">
                <a16:creationId xmlns:a16="http://schemas.microsoft.com/office/drawing/2014/main" id="{0137E39D-8191-4BDB-2C65-FC3D04A07C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B354C8-9A4B-3504-F492-061088316803}"/>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3159048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B1BD8-6B4C-3468-66A2-77D58F8E53E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F36C02-5A44-2F79-2BED-2FD8674B09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494DB88-4A05-A9CB-20BD-16AB7A1C9E73}"/>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5" name="Footer Placeholder 4">
            <a:extLst>
              <a:ext uri="{FF2B5EF4-FFF2-40B4-BE49-F238E27FC236}">
                <a16:creationId xmlns:a16="http://schemas.microsoft.com/office/drawing/2014/main" id="{E797A4C8-C7F5-AF65-4620-6377D8C8A5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5E0462-4575-6C35-ACC1-42B7E6B5AACA}"/>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1515102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5890FC-4F63-7D2E-9B96-BFBF2E78834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879E51-6A10-2F34-2590-9332B431AF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3E3B2E-7260-A0FD-7FC0-2AC73836AD3A}"/>
              </a:ext>
            </a:extLst>
          </p:cNvPr>
          <p:cNvSpPr>
            <a:spLocks noGrp="1"/>
          </p:cNvSpPr>
          <p:nvPr>
            <p:ph type="dt" sz="half" idx="10"/>
          </p:nvPr>
        </p:nvSpPr>
        <p:spPr/>
        <p:txBody>
          <a:bodyPr/>
          <a:lstStyle/>
          <a:p>
            <a:fld id="{2858F503-132E-47AC-A7DA-02336771CA9B}" type="datetimeFigureOut">
              <a:rPr lang="en-IN" smtClean="0"/>
              <a:t>27-03-2026</a:t>
            </a:fld>
            <a:endParaRPr lang="en-IN"/>
          </a:p>
        </p:txBody>
      </p:sp>
      <p:sp>
        <p:nvSpPr>
          <p:cNvPr id="5" name="Footer Placeholder 4">
            <a:extLst>
              <a:ext uri="{FF2B5EF4-FFF2-40B4-BE49-F238E27FC236}">
                <a16:creationId xmlns:a16="http://schemas.microsoft.com/office/drawing/2014/main" id="{5D37BD49-253A-4445-FD65-D9F0A97CDC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6676F5-2C67-6BBC-F289-560ACB1698AB}"/>
              </a:ext>
            </a:extLst>
          </p:cNvPr>
          <p:cNvSpPr>
            <a:spLocks noGrp="1"/>
          </p:cNvSpPr>
          <p:nvPr>
            <p:ph type="sldNum" sz="quarter" idx="12"/>
          </p:nvPr>
        </p:nvSpPr>
        <p:spPr/>
        <p:txBody>
          <a:bodyPr/>
          <a:lstStyle/>
          <a:p>
            <a:fld id="{597F0264-D7D5-4258-98F3-0F858C1B3C01}" type="slidenum">
              <a:rPr lang="en-IN" smtClean="0"/>
              <a:t>‹#›</a:t>
            </a:fld>
            <a:endParaRPr lang="en-IN"/>
          </a:p>
        </p:txBody>
      </p:sp>
    </p:spTree>
    <p:extLst>
      <p:ext uri="{BB962C8B-B14F-4D97-AF65-F5344CB8AC3E}">
        <p14:creationId xmlns:p14="http://schemas.microsoft.com/office/powerpoint/2010/main" val="4096827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D191F6-C094-891B-4305-CE45866057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B81159-B417-D19E-FD81-8FC1BEDCA2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D89213-5909-BEB9-088F-66C0A9D376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58F503-132E-47AC-A7DA-02336771CA9B}" type="datetimeFigureOut">
              <a:rPr lang="en-IN" smtClean="0"/>
              <a:t>27-03-2026</a:t>
            </a:fld>
            <a:endParaRPr lang="en-IN"/>
          </a:p>
        </p:txBody>
      </p:sp>
      <p:sp>
        <p:nvSpPr>
          <p:cNvPr id="5" name="Footer Placeholder 4">
            <a:extLst>
              <a:ext uri="{FF2B5EF4-FFF2-40B4-BE49-F238E27FC236}">
                <a16:creationId xmlns:a16="http://schemas.microsoft.com/office/drawing/2014/main" id="{DE5CFA26-CE59-2EC3-E634-6DCEB185EC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A226321-06C1-23C9-EB2E-70682D8D6E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7F0264-D7D5-4258-98F3-0F858C1B3C01}" type="slidenum">
              <a:rPr lang="en-IN" smtClean="0"/>
              <a:t>‹#›</a:t>
            </a:fld>
            <a:endParaRPr lang="en-IN"/>
          </a:p>
        </p:txBody>
      </p:sp>
    </p:spTree>
    <p:extLst>
      <p:ext uri="{BB962C8B-B14F-4D97-AF65-F5344CB8AC3E}">
        <p14:creationId xmlns:p14="http://schemas.microsoft.com/office/powerpoint/2010/main" val="2598696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BF0A499-877D-7B43-F1D6-0F72F47293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41756" y="1735880"/>
            <a:ext cx="4771836" cy="2694039"/>
          </a:xfrm>
          <a:prstGeom prst="rect">
            <a:avLst/>
          </a:prstGeom>
        </p:spPr>
      </p:pic>
      <p:pic>
        <p:nvPicPr>
          <p:cNvPr id="6" name="Picture 5">
            <a:extLst>
              <a:ext uri="{FF2B5EF4-FFF2-40B4-BE49-F238E27FC236}">
                <a16:creationId xmlns:a16="http://schemas.microsoft.com/office/drawing/2014/main" id="{D5116763-B837-CBC3-5024-C685C6BCA16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0" y="0"/>
            <a:ext cx="12192000" cy="6878215"/>
          </a:xfrm>
          <a:prstGeom prst="rect">
            <a:avLst/>
          </a:prstGeom>
        </p:spPr>
      </p:pic>
      <p:sp>
        <p:nvSpPr>
          <p:cNvPr id="2" name="Title 1">
            <a:extLst>
              <a:ext uri="{FF2B5EF4-FFF2-40B4-BE49-F238E27FC236}">
                <a16:creationId xmlns:a16="http://schemas.microsoft.com/office/drawing/2014/main" id="{63655D57-9CAA-CEA9-5953-25CC8DA65ECC}"/>
              </a:ext>
            </a:extLst>
          </p:cNvPr>
          <p:cNvSpPr>
            <a:spLocks noGrp="1"/>
          </p:cNvSpPr>
          <p:nvPr>
            <p:ph type="ctrTitle"/>
          </p:nvPr>
        </p:nvSpPr>
        <p:spPr>
          <a:xfrm>
            <a:off x="289367" y="2217999"/>
            <a:ext cx="11806178" cy="2422001"/>
          </a:xfrm>
        </p:spPr>
        <p:txBody>
          <a:bodyPr anchor="ctr">
            <a:normAutofit/>
          </a:bodyPr>
          <a:lstStyle/>
          <a:p>
            <a:r>
              <a:rPr lang="en-US" sz="4400" dirty="0">
                <a:latin typeface="Times New Roman" panose="02020603050405020304" pitchFamily="18" charset="0"/>
                <a:cs typeface="Times New Roman" panose="02020603050405020304" pitchFamily="18" charset="0"/>
              </a:rPr>
              <a:t>FSM-Based Multi-Product Vending Machine using Verilog HDL</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008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16CB72-7AF7-BB20-A623-2EED564192B0}"/>
              </a:ext>
            </a:extLst>
          </p:cNvPr>
          <p:cNvPicPr>
            <a:picLocks noChangeAspect="1"/>
          </p:cNvPicPr>
          <p:nvPr/>
        </p:nvPicPr>
        <p:blipFill>
          <a:blip r:embed="rId2"/>
          <a:stretch>
            <a:fillRect/>
          </a:stretch>
        </p:blipFill>
        <p:spPr>
          <a:xfrm>
            <a:off x="0" y="-11160"/>
            <a:ext cx="12192000" cy="6869160"/>
          </a:xfrm>
          <a:prstGeom prst="rect">
            <a:avLst/>
          </a:prstGeom>
        </p:spPr>
      </p:pic>
      <p:sp>
        <p:nvSpPr>
          <p:cNvPr id="2" name="Title 1">
            <a:extLst>
              <a:ext uri="{FF2B5EF4-FFF2-40B4-BE49-F238E27FC236}">
                <a16:creationId xmlns:a16="http://schemas.microsoft.com/office/drawing/2014/main" id="{703D0C9C-FEC7-3F04-5D4A-630BEA18F140}"/>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Introduction</a:t>
            </a:r>
            <a:r>
              <a:rPr lang="en-IN" b="1" dirty="0"/>
              <a:t> </a:t>
            </a:r>
            <a:endParaRPr lang="en-IN" dirty="0"/>
          </a:p>
        </p:txBody>
      </p:sp>
      <p:sp>
        <p:nvSpPr>
          <p:cNvPr id="3" name="Content Placeholder 2">
            <a:extLst>
              <a:ext uri="{FF2B5EF4-FFF2-40B4-BE49-F238E27FC236}">
                <a16:creationId xmlns:a16="http://schemas.microsoft.com/office/drawing/2014/main" id="{39DD28AB-51CC-894E-BFE1-659337DEF2D1}"/>
              </a:ext>
            </a:extLst>
          </p:cNvPr>
          <p:cNvSpPr>
            <a:spLocks noGrp="1"/>
          </p:cNvSpPr>
          <p:nvPr>
            <p:ph idx="1"/>
          </p:nvPr>
        </p:nvSpPr>
        <p:spPr/>
        <p:txBody>
          <a:bodyPr/>
          <a:lstStyle/>
          <a:p>
            <a:pPr algn="just">
              <a:lnSpc>
                <a:spcPct val="150000"/>
              </a:lnSpc>
            </a:pPr>
            <a:r>
              <a:rPr lang="en-US" sz="2400" dirty="0"/>
              <a:t>A vending machine is a system that gives products when we put the correct amount of money. In this project, the vending machine is designed using a Finite State Machine (FSM) and implemented using Verilog HDL. It allows the user to select different products and insert coins. The machine gives the product when enough money is added and returns change if extra money is inserted. This system is useful in real-life applications.</a:t>
            </a:r>
            <a:endParaRPr lang="en-IN" dirty="0"/>
          </a:p>
        </p:txBody>
      </p:sp>
    </p:spTree>
    <p:extLst>
      <p:ext uri="{BB962C8B-B14F-4D97-AF65-F5344CB8AC3E}">
        <p14:creationId xmlns:p14="http://schemas.microsoft.com/office/powerpoint/2010/main" val="966700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EE0221E-FF4F-40C3-7BD0-F6D6E99C5E42}"/>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C60CFA-C409-ED71-648C-A955C8835515}"/>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D37CBA80-098C-9D48-ACB3-5AA038D89ABF}"/>
              </a:ext>
            </a:extLst>
          </p:cNvPr>
          <p:cNvSpPr>
            <a:spLocks noGrp="1" noChangeArrowheads="1"/>
          </p:cNvSpPr>
          <p:nvPr>
            <p:ph idx="1"/>
          </p:nvPr>
        </p:nvSpPr>
        <p:spPr bwMode="auto">
          <a:xfrm>
            <a:off x="1534128" y="1610449"/>
            <a:ext cx="10238772"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vending machine using the Finite State Machine (FSM) approach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support multiple product selection using control signals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accept coin inputs and track the total inserted amount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dispense the selected product when the required amount is reached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return appropriate change for excess money inserted </a:t>
            </a:r>
          </a:p>
        </p:txBody>
      </p:sp>
    </p:spTree>
    <p:extLst>
      <p:ext uri="{BB962C8B-B14F-4D97-AF65-F5344CB8AC3E}">
        <p14:creationId xmlns:p14="http://schemas.microsoft.com/office/powerpoint/2010/main" val="1824756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3DBADF-E83C-493B-99A1-8A5CEDB666D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192000" cy="6961905"/>
          </a:xfrm>
          <a:prstGeom prst="rect">
            <a:avLst/>
          </a:prstGeom>
        </p:spPr>
      </p:pic>
      <p:sp>
        <p:nvSpPr>
          <p:cNvPr id="2" name="Title 1">
            <a:extLst>
              <a:ext uri="{FF2B5EF4-FFF2-40B4-BE49-F238E27FC236}">
                <a16:creationId xmlns:a16="http://schemas.microsoft.com/office/drawing/2014/main" id="{2083F749-9CFF-F01D-565E-6E6ED2A3AF0B}"/>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Problem</a:t>
            </a:r>
            <a:r>
              <a:rPr lang="en-IN" dirty="0"/>
              <a:t> </a:t>
            </a:r>
            <a:r>
              <a:rPr lang="en-IN" dirty="0">
                <a:latin typeface="Times New Roman" panose="02020603050405020304" pitchFamily="18" charset="0"/>
                <a:cs typeface="Times New Roman" panose="02020603050405020304" pitchFamily="18" charset="0"/>
              </a:rPr>
              <a:t>Statement</a:t>
            </a:r>
          </a:p>
        </p:txBody>
      </p:sp>
      <p:sp>
        <p:nvSpPr>
          <p:cNvPr id="3" name="Content Placeholder 2">
            <a:extLst>
              <a:ext uri="{FF2B5EF4-FFF2-40B4-BE49-F238E27FC236}">
                <a16:creationId xmlns:a16="http://schemas.microsoft.com/office/drawing/2014/main" id="{8D89EF0E-4588-C75E-C3B1-7D4D2C8EC714}"/>
              </a:ext>
            </a:extLst>
          </p:cNvPr>
          <p:cNvSpPr>
            <a:spLocks noGrp="1"/>
          </p:cNvSpPr>
          <p:nvPr>
            <p:ph idx="1"/>
          </p:nvPr>
        </p:nvSpPr>
        <p:spPr>
          <a:xfrm>
            <a:off x="1405360" y="1825625"/>
            <a:ext cx="10515600" cy="4351338"/>
          </a:xfrm>
        </p:spPr>
        <p:txBody>
          <a:bodyPr/>
          <a:lstStyle/>
          <a:p>
            <a:pPr algn="just">
              <a:lnSpc>
                <a:spcPct val="150000"/>
              </a:lnSpc>
            </a:pPr>
            <a:r>
              <a:rPr lang="en-US" sz="2400" dirty="0">
                <a:latin typeface="Times New Roman" panose="02020603050405020304" pitchFamily="18" charset="0"/>
                <a:cs typeface="Times New Roman" panose="02020603050405020304" pitchFamily="18" charset="0"/>
              </a:rPr>
              <a:t>Design and implement a multi-product vending machine using Verilog HDL based on the Finite State Machine (FSM) approach.</a:t>
            </a:r>
          </a:p>
          <a:p>
            <a:pPr algn="just">
              <a:lnSpc>
                <a:spcPct val="150000"/>
              </a:lnSpc>
            </a:pPr>
            <a:r>
              <a:rPr lang="en-US" sz="2400" dirty="0">
                <a:latin typeface="Times New Roman" panose="02020603050405020304" pitchFamily="18" charset="0"/>
                <a:cs typeface="Times New Roman" panose="02020603050405020304" pitchFamily="18" charset="0"/>
              </a:rPr>
              <a:t>The system should allow a user to select different products and insert coins, and it must dispense the selected product once the required amount is reached, while also returning change if excess money is inserted.</a:t>
            </a:r>
          </a:p>
          <a:p>
            <a:endParaRPr lang="en-IN" dirty="0"/>
          </a:p>
        </p:txBody>
      </p:sp>
    </p:spTree>
    <p:extLst>
      <p:ext uri="{BB962C8B-B14F-4D97-AF65-F5344CB8AC3E}">
        <p14:creationId xmlns:p14="http://schemas.microsoft.com/office/powerpoint/2010/main" val="1045718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C7572A3-7573-C3F7-6F89-38E64B3C93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64489"/>
          </a:xfrm>
          <a:prstGeom prst="rect">
            <a:avLst/>
          </a:prstGeom>
        </p:spPr>
      </p:pic>
      <p:sp>
        <p:nvSpPr>
          <p:cNvPr id="2" name="Title 1">
            <a:extLst>
              <a:ext uri="{FF2B5EF4-FFF2-40B4-BE49-F238E27FC236}">
                <a16:creationId xmlns:a16="http://schemas.microsoft.com/office/drawing/2014/main" id="{F568FE50-0C9E-2EF2-9F03-6DFFEFDDBE83}"/>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Block</a:t>
            </a:r>
            <a:r>
              <a:rPr lang="en-IN" dirty="0"/>
              <a:t> </a:t>
            </a:r>
            <a:r>
              <a:rPr lang="en-IN" dirty="0">
                <a:latin typeface="Times New Roman" panose="02020603050405020304" pitchFamily="18" charset="0"/>
                <a:cs typeface="Times New Roman" panose="02020603050405020304" pitchFamily="18" charset="0"/>
              </a:rPr>
              <a:t>Diagram</a:t>
            </a:r>
          </a:p>
        </p:txBody>
      </p:sp>
      <p:pic>
        <p:nvPicPr>
          <p:cNvPr id="4" name="Content Placeholder 3">
            <a:extLst>
              <a:ext uri="{FF2B5EF4-FFF2-40B4-BE49-F238E27FC236}">
                <a16:creationId xmlns:a16="http://schemas.microsoft.com/office/drawing/2014/main" id="{012865D7-26FC-9ED4-5399-9F6B39C939F9}"/>
              </a:ext>
            </a:extLst>
          </p:cNvPr>
          <p:cNvPicPr>
            <a:picLocks noGrp="1" noChangeAspect="1"/>
          </p:cNvPicPr>
          <p:nvPr>
            <p:ph idx="1"/>
          </p:nvPr>
        </p:nvPicPr>
        <p:blipFill>
          <a:blip r:embed="rId3"/>
          <a:srcRect t="15326" b="20920"/>
          <a:stretch>
            <a:fillRect/>
          </a:stretch>
        </p:blipFill>
        <p:spPr>
          <a:xfrm>
            <a:off x="1033043" y="2199190"/>
            <a:ext cx="10125913" cy="3842795"/>
          </a:xfrm>
          <a:prstGeom prst="rect">
            <a:avLst/>
          </a:prstGeom>
        </p:spPr>
      </p:pic>
    </p:spTree>
    <p:extLst>
      <p:ext uri="{BB962C8B-B14F-4D97-AF65-F5344CB8AC3E}">
        <p14:creationId xmlns:p14="http://schemas.microsoft.com/office/powerpoint/2010/main" val="1622066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54724D-A067-153D-00FC-E9E3647F63B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
            <a:ext cx="12192000" cy="6724890"/>
          </a:xfrm>
          <a:prstGeom prst="rect">
            <a:avLst/>
          </a:prstGeom>
        </p:spPr>
      </p:pic>
      <p:sp>
        <p:nvSpPr>
          <p:cNvPr id="2" name="Title 1">
            <a:extLst>
              <a:ext uri="{FF2B5EF4-FFF2-40B4-BE49-F238E27FC236}">
                <a16:creationId xmlns:a16="http://schemas.microsoft.com/office/drawing/2014/main" id="{C9F6C563-4A09-46E0-4F9A-47591B09D96D}"/>
              </a:ext>
            </a:extLst>
          </p:cNvPr>
          <p:cNvSpPr>
            <a:spLocks noGrp="1"/>
          </p:cNvSpPr>
          <p:nvPr>
            <p:ph type="title"/>
          </p:nvPr>
        </p:nvSpPr>
        <p:spPr>
          <a:xfrm>
            <a:off x="838200" y="365124"/>
            <a:ext cx="10515600" cy="500114"/>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System Specifications</a:t>
            </a:r>
            <a:br>
              <a:rPr lang="en-US"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C7E0C9E-73F2-FB63-7BE4-143BA8D8E3F2}"/>
              </a:ext>
            </a:extLst>
          </p:cNvPr>
          <p:cNvSpPr>
            <a:spLocks noGrp="1"/>
          </p:cNvSpPr>
          <p:nvPr>
            <p:ph idx="1"/>
          </p:nvPr>
        </p:nvSpPr>
        <p:spPr>
          <a:xfrm>
            <a:off x="1694727" y="661219"/>
            <a:ext cx="11216148" cy="6196780"/>
          </a:xfrm>
        </p:spPr>
        <p:txBody>
          <a:bodyPr>
            <a:normAutofit fontScale="77500" lnSpcReduction="20000"/>
          </a:bodyPr>
          <a:lstStyle/>
          <a:p>
            <a:pPr>
              <a:lnSpc>
                <a:spcPct val="170000"/>
              </a:lnSpc>
            </a:pPr>
            <a:r>
              <a:rPr lang="en-US" sz="3100" dirty="0">
                <a:latin typeface="Times New Roman" panose="02020603050405020304" pitchFamily="18" charset="0"/>
                <a:cs typeface="Times New Roman" panose="02020603050405020304" pitchFamily="18" charset="0"/>
              </a:rPr>
              <a:t>The vending machine accepts coin inputs of: </a:t>
            </a:r>
          </a:p>
          <a:p>
            <a:pPr lvl="1" algn="just">
              <a:lnSpc>
                <a:spcPct val="170000"/>
              </a:lnSpc>
            </a:pPr>
            <a:r>
              <a:rPr lang="en-US" sz="2600" dirty="0">
                <a:latin typeface="Times New Roman" panose="02020603050405020304" pitchFamily="18" charset="0"/>
                <a:cs typeface="Times New Roman" panose="02020603050405020304" pitchFamily="18" charset="0"/>
              </a:rPr>
              <a:t>₹5 </a:t>
            </a:r>
          </a:p>
          <a:p>
            <a:pPr lvl="1">
              <a:lnSpc>
                <a:spcPct val="170000"/>
              </a:lnSpc>
            </a:pPr>
            <a:r>
              <a:rPr lang="en-US" sz="2600" dirty="0">
                <a:latin typeface="Times New Roman" panose="02020603050405020304" pitchFamily="18" charset="0"/>
                <a:cs typeface="Times New Roman" panose="02020603050405020304" pitchFamily="18" charset="0"/>
              </a:rPr>
              <a:t>₹10 </a:t>
            </a:r>
          </a:p>
          <a:p>
            <a:pPr>
              <a:lnSpc>
                <a:spcPct val="170000"/>
              </a:lnSpc>
            </a:pPr>
            <a:r>
              <a:rPr lang="en-US" sz="3100" dirty="0">
                <a:latin typeface="Times New Roman" panose="02020603050405020304" pitchFamily="18" charset="0"/>
                <a:cs typeface="Times New Roman" panose="02020603050405020304" pitchFamily="18" charset="0"/>
              </a:rPr>
              <a:t>The system supports multiple products with different prices</a:t>
            </a:r>
            <a:r>
              <a:rPr lang="en-US" sz="2600" dirty="0">
                <a:latin typeface="Times New Roman" panose="02020603050405020304" pitchFamily="18" charset="0"/>
                <a:cs typeface="Times New Roman" panose="02020603050405020304" pitchFamily="18" charset="0"/>
              </a:rPr>
              <a:t>: </a:t>
            </a:r>
          </a:p>
          <a:p>
            <a:pPr lvl="1">
              <a:lnSpc>
                <a:spcPct val="170000"/>
              </a:lnSpc>
            </a:pPr>
            <a:r>
              <a:rPr lang="en-US" sz="2600" dirty="0">
                <a:latin typeface="Times New Roman" panose="02020603050405020304" pitchFamily="18" charset="0"/>
                <a:cs typeface="Times New Roman" panose="02020603050405020304" pitchFamily="18" charset="0"/>
              </a:rPr>
              <a:t>Product A → Cost ₹10 </a:t>
            </a:r>
          </a:p>
          <a:p>
            <a:pPr lvl="1">
              <a:lnSpc>
                <a:spcPct val="170000"/>
              </a:lnSpc>
            </a:pPr>
            <a:r>
              <a:rPr lang="en-US" sz="2600" dirty="0">
                <a:latin typeface="Times New Roman" panose="02020603050405020304" pitchFamily="18" charset="0"/>
                <a:cs typeface="Times New Roman" panose="02020603050405020304" pitchFamily="18" charset="0"/>
              </a:rPr>
              <a:t>Product B → Cost ₹15 </a:t>
            </a:r>
          </a:p>
          <a:p>
            <a:pPr lvl="1">
              <a:lnSpc>
                <a:spcPct val="170000"/>
              </a:lnSpc>
            </a:pPr>
            <a:r>
              <a:rPr lang="en-US" sz="2600" dirty="0">
                <a:latin typeface="Times New Roman" panose="02020603050405020304" pitchFamily="18" charset="0"/>
                <a:cs typeface="Times New Roman" panose="02020603050405020304" pitchFamily="18" charset="0"/>
              </a:rPr>
              <a:t>Product C → Cost ₹20 </a:t>
            </a:r>
          </a:p>
          <a:p>
            <a:pPr>
              <a:lnSpc>
                <a:spcPct val="170000"/>
              </a:lnSpc>
            </a:pPr>
            <a:r>
              <a:rPr lang="en-US" sz="3100" dirty="0">
                <a:latin typeface="Times New Roman" panose="02020603050405020304" pitchFamily="18" charset="0"/>
                <a:cs typeface="Times New Roman" panose="02020603050405020304" pitchFamily="18" charset="0"/>
              </a:rPr>
              <a:t>A selection signal (</a:t>
            </a:r>
            <a:r>
              <a:rPr lang="en-US" sz="3100" dirty="0" err="1">
                <a:latin typeface="Times New Roman" panose="02020603050405020304" pitchFamily="18" charset="0"/>
                <a:cs typeface="Times New Roman" panose="02020603050405020304" pitchFamily="18" charset="0"/>
              </a:rPr>
              <a:t>sel</a:t>
            </a:r>
            <a:r>
              <a:rPr lang="en-US" sz="3100" dirty="0">
                <a:latin typeface="Times New Roman" panose="02020603050405020304" pitchFamily="18" charset="0"/>
                <a:cs typeface="Times New Roman" panose="02020603050405020304" pitchFamily="18" charset="0"/>
              </a:rPr>
              <a:t>) is used to choose the product: </a:t>
            </a:r>
          </a:p>
          <a:p>
            <a:pPr lvl="1">
              <a:lnSpc>
                <a:spcPct val="170000"/>
              </a:lnSpc>
            </a:pPr>
            <a:r>
              <a:rPr lang="en-US" sz="2600" dirty="0" err="1">
                <a:latin typeface="Times New Roman" panose="02020603050405020304" pitchFamily="18" charset="0"/>
                <a:cs typeface="Times New Roman" panose="02020603050405020304" pitchFamily="18" charset="0"/>
              </a:rPr>
              <a:t>sel</a:t>
            </a:r>
            <a:r>
              <a:rPr lang="en-US" sz="2600" dirty="0">
                <a:latin typeface="Times New Roman" panose="02020603050405020304" pitchFamily="18" charset="0"/>
                <a:cs typeface="Times New Roman" panose="02020603050405020304" pitchFamily="18" charset="0"/>
              </a:rPr>
              <a:t> = 0 → Product A </a:t>
            </a:r>
          </a:p>
          <a:p>
            <a:pPr lvl="1">
              <a:lnSpc>
                <a:spcPct val="170000"/>
              </a:lnSpc>
            </a:pPr>
            <a:r>
              <a:rPr lang="en-US" sz="2600" dirty="0" err="1">
                <a:latin typeface="Times New Roman" panose="02020603050405020304" pitchFamily="18" charset="0"/>
                <a:cs typeface="Times New Roman" panose="02020603050405020304" pitchFamily="18" charset="0"/>
              </a:rPr>
              <a:t>sel</a:t>
            </a:r>
            <a:r>
              <a:rPr lang="en-US" sz="2600" dirty="0">
                <a:latin typeface="Times New Roman" panose="02020603050405020304" pitchFamily="18" charset="0"/>
                <a:cs typeface="Times New Roman" panose="02020603050405020304" pitchFamily="18" charset="0"/>
              </a:rPr>
              <a:t> = 1 → Product B </a:t>
            </a:r>
          </a:p>
          <a:p>
            <a:pPr lvl="1">
              <a:lnSpc>
                <a:spcPct val="170000"/>
              </a:lnSpc>
            </a:pPr>
            <a:r>
              <a:rPr lang="en-US" sz="2600" dirty="0" err="1">
                <a:latin typeface="Times New Roman" panose="02020603050405020304" pitchFamily="18" charset="0"/>
                <a:cs typeface="Times New Roman" panose="02020603050405020304" pitchFamily="18" charset="0"/>
              </a:rPr>
              <a:t>sel</a:t>
            </a:r>
            <a:r>
              <a:rPr lang="en-US" sz="2600" dirty="0">
                <a:latin typeface="Times New Roman" panose="02020603050405020304" pitchFamily="18" charset="0"/>
                <a:cs typeface="Times New Roman" panose="02020603050405020304" pitchFamily="18" charset="0"/>
              </a:rPr>
              <a:t> = 2 → Product C</a:t>
            </a:r>
          </a:p>
          <a:p>
            <a:pPr>
              <a:lnSpc>
                <a:spcPct val="170000"/>
              </a:lnSpc>
            </a:pPr>
            <a:endParaRPr lang="en-IN" dirty="0"/>
          </a:p>
        </p:txBody>
      </p:sp>
    </p:spTree>
    <p:extLst>
      <p:ext uri="{BB962C8B-B14F-4D97-AF65-F5344CB8AC3E}">
        <p14:creationId xmlns:p14="http://schemas.microsoft.com/office/powerpoint/2010/main" val="1142514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159A09-87D9-1ECC-5520-6B220B5E1E4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1999" cy="6883246"/>
          </a:xfrm>
          <a:prstGeom prst="rect">
            <a:avLst/>
          </a:prstGeom>
        </p:spPr>
      </p:pic>
      <p:sp>
        <p:nvSpPr>
          <p:cNvPr id="2" name="Title 1">
            <a:extLst>
              <a:ext uri="{FF2B5EF4-FFF2-40B4-BE49-F238E27FC236}">
                <a16:creationId xmlns:a16="http://schemas.microsoft.com/office/drawing/2014/main" id="{188F9711-F8A3-6182-CA9A-6B36E69CB290}"/>
              </a:ext>
            </a:extLst>
          </p:cNvPr>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State Representation</a:t>
            </a:r>
          </a:p>
        </p:txBody>
      </p:sp>
      <p:sp>
        <p:nvSpPr>
          <p:cNvPr id="4" name="Rectangle 1">
            <a:extLst>
              <a:ext uri="{FF2B5EF4-FFF2-40B4-BE49-F238E27FC236}">
                <a16:creationId xmlns:a16="http://schemas.microsoft.com/office/drawing/2014/main" id="{F535B50F-BF51-F04A-C868-6966813FC4ED}"/>
              </a:ext>
            </a:extLst>
          </p:cNvPr>
          <p:cNvSpPr>
            <a:spLocks noGrp="1" noChangeArrowheads="1"/>
          </p:cNvSpPr>
          <p:nvPr>
            <p:ph idx="1"/>
          </p:nvPr>
        </p:nvSpPr>
        <p:spPr bwMode="auto">
          <a:xfrm>
            <a:off x="1462736" y="1786585"/>
            <a:ext cx="10262419"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Product A states: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A0, A5, A10, A15, A20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Product B states: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B0, B5, B10, B15, B20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Product C states: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C0, C5, C10, C15, C20, C25, C30</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347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03228E-8B8C-759C-831E-A8F7F8DE29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761814"/>
          </a:xfrm>
          <a:prstGeom prst="rect">
            <a:avLst/>
          </a:prstGeom>
        </p:spPr>
      </p:pic>
      <p:sp>
        <p:nvSpPr>
          <p:cNvPr id="2" name="Title 1">
            <a:extLst>
              <a:ext uri="{FF2B5EF4-FFF2-40B4-BE49-F238E27FC236}">
                <a16:creationId xmlns:a16="http://schemas.microsoft.com/office/drawing/2014/main" id="{ED4FC280-2422-24C3-8984-EE47D1D84DEC}"/>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99C12DE8-902D-7C5D-9042-827A91811D1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5341" t="6272" b="5744"/>
          <a:stretch>
            <a:fillRect/>
          </a:stretch>
        </p:blipFill>
        <p:spPr>
          <a:xfrm>
            <a:off x="694426" y="925975"/>
            <a:ext cx="10803147" cy="5231758"/>
          </a:xfrm>
          <a:prstGeom prst="rect">
            <a:avLst/>
          </a:prstGeom>
        </p:spPr>
      </p:pic>
    </p:spTree>
    <p:extLst>
      <p:ext uri="{BB962C8B-B14F-4D97-AF65-F5344CB8AC3E}">
        <p14:creationId xmlns:p14="http://schemas.microsoft.com/office/powerpoint/2010/main" val="451246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A351D3-BC56-9852-C1A3-879CE125727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78215"/>
          </a:xfrm>
          <a:prstGeom prst="rect">
            <a:avLst/>
          </a:prstGeom>
        </p:spPr>
      </p:pic>
      <p:sp>
        <p:nvSpPr>
          <p:cNvPr id="2" name="Title 1">
            <a:extLst>
              <a:ext uri="{FF2B5EF4-FFF2-40B4-BE49-F238E27FC236}">
                <a16:creationId xmlns:a16="http://schemas.microsoft.com/office/drawing/2014/main" id="{0FC6A013-AE6E-12F5-ABB2-3EF785CCBE3A}"/>
              </a:ext>
            </a:extLst>
          </p:cNvPr>
          <p:cNvSpPr>
            <a:spLocks noGrp="1"/>
          </p:cNvSpPr>
          <p:nvPr>
            <p:ph type="title"/>
          </p:nvPr>
        </p:nvSpPr>
        <p:spPr>
          <a:xfrm>
            <a:off x="3229337" y="-311221"/>
            <a:ext cx="4213185" cy="1325563"/>
          </a:xfrm>
        </p:spPr>
        <p:txBody>
          <a:bodyPr>
            <a:normAutofit/>
          </a:bodyPr>
          <a:lstStyle/>
          <a:p>
            <a:r>
              <a:rPr lang="en-IN" dirty="0">
                <a:latin typeface="Times New Roman" panose="02020603050405020304" pitchFamily="18" charset="0"/>
                <a:cs typeface="Times New Roman" panose="02020603050405020304" pitchFamily="18" charset="0"/>
              </a:rPr>
              <a:t> Design Code</a:t>
            </a:r>
            <a:r>
              <a:rPr lang="en-IN" dirty="0"/>
              <a:t> </a:t>
            </a:r>
          </a:p>
        </p:txBody>
      </p:sp>
      <p:pic>
        <p:nvPicPr>
          <p:cNvPr id="5" name="Content Placeholder 4">
            <a:extLst>
              <a:ext uri="{FF2B5EF4-FFF2-40B4-BE49-F238E27FC236}">
                <a16:creationId xmlns:a16="http://schemas.microsoft.com/office/drawing/2014/main" id="{C491571D-8590-7A2F-2750-5BD71F417E2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682906"/>
            <a:ext cx="9696029" cy="6175094"/>
          </a:xfrm>
          <a:prstGeom prst="rect">
            <a:avLst/>
          </a:prstGeom>
        </p:spPr>
      </p:pic>
    </p:spTree>
    <p:extLst>
      <p:ext uri="{BB962C8B-B14F-4D97-AF65-F5344CB8AC3E}">
        <p14:creationId xmlns:p14="http://schemas.microsoft.com/office/powerpoint/2010/main" val="801131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F6D5A9-275B-1304-6C03-AB8C98157A7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21623"/>
            <a:ext cx="12192000" cy="6814753"/>
          </a:xfrm>
          <a:prstGeom prst="rect">
            <a:avLst/>
          </a:prstGeom>
        </p:spPr>
      </p:pic>
      <p:sp>
        <p:nvSpPr>
          <p:cNvPr id="2" name="Title 1">
            <a:extLst>
              <a:ext uri="{FF2B5EF4-FFF2-40B4-BE49-F238E27FC236}">
                <a16:creationId xmlns:a16="http://schemas.microsoft.com/office/drawing/2014/main" id="{F84F77E7-1CA1-7A4B-F8AC-D2643798743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14DF967-39AB-90AE-196B-8D45BB69647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1024" y="0"/>
            <a:ext cx="6774427" cy="6814753"/>
          </a:xfrm>
          <a:prstGeom prst="rect">
            <a:avLst/>
          </a:prstGeom>
        </p:spPr>
      </p:pic>
    </p:spTree>
    <p:extLst>
      <p:ext uri="{BB962C8B-B14F-4D97-AF65-F5344CB8AC3E}">
        <p14:creationId xmlns:p14="http://schemas.microsoft.com/office/powerpoint/2010/main" val="1294306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FF2A37-1B64-1F82-434E-7D8171511E1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0107"/>
            <a:ext cx="12192000" cy="6878215"/>
          </a:xfrm>
          <a:prstGeom prst="rect">
            <a:avLst/>
          </a:prstGeom>
        </p:spPr>
      </p:pic>
      <p:sp>
        <p:nvSpPr>
          <p:cNvPr id="2" name="Title 1">
            <a:extLst>
              <a:ext uri="{FF2B5EF4-FFF2-40B4-BE49-F238E27FC236}">
                <a16:creationId xmlns:a16="http://schemas.microsoft.com/office/drawing/2014/main" id="{E93EAB95-5072-B8F4-EF89-5DE04E84866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8D02B12-4710-573D-7986-9FE3DC4743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0107"/>
            <a:ext cx="6695768" cy="6858000"/>
          </a:xfrm>
          <a:prstGeom prst="rect">
            <a:avLst/>
          </a:prstGeom>
        </p:spPr>
      </p:pic>
    </p:spTree>
    <p:extLst>
      <p:ext uri="{BB962C8B-B14F-4D97-AF65-F5344CB8AC3E}">
        <p14:creationId xmlns:p14="http://schemas.microsoft.com/office/powerpoint/2010/main" val="3277177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DB8C545-23A7-4201-74E4-D77CEB3AB9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150"/>
            <a:ext cx="12192000" cy="6842487"/>
          </a:xfrm>
          <a:prstGeom prst="rect">
            <a:avLst/>
          </a:prstGeom>
        </p:spPr>
      </p:pic>
      <p:sp>
        <p:nvSpPr>
          <p:cNvPr id="2" name="Title 1">
            <a:extLst>
              <a:ext uri="{FF2B5EF4-FFF2-40B4-BE49-F238E27FC236}">
                <a16:creationId xmlns:a16="http://schemas.microsoft.com/office/drawing/2014/main" id="{44F0C5ED-575E-EEB9-6EA9-4D9AEDA90123}"/>
              </a:ext>
            </a:extLst>
          </p:cNvPr>
          <p:cNvSpPr>
            <a:spLocks noGrp="1"/>
          </p:cNvSpPr>
          <p:nvPr>
            <p:ph type="title"/>
          </p:nvPr>
        </p:nvSpPr>
        <p:spPr>
          <a:xfrm>
            <a:off x="3541853" y="17843"/>
            <a:ext cx="10515600" cy="450849"/>
          </a:xfrm>
        </p:spPr>
        <p:txBody>
          <a:bodyPr>
            <a:normAutofit fontScale="90000"/>
          </a:bodyPr>
          <a:lstStyle/>
          <a:p>
            <a:r>
              <a:rPr lang="en-IN" dirty="0">
                <a:latin typeface="Times New Roman" panose="02020603050405020304" pitchFamily="18" charset="0"/>
                <a:cs typeface="Times New Roman" panose="02020603050405020304" pitchFamily="18" charset="0"/>
              </a:rPr>
              <a:t>Test Bench </a:t>
            </a:r>
          </a:p>
        </p:txBody>
      </p:sp>
      <p:pic>
        <p:nvPicPr>
          <p:cNvPr id="4" name="Content Placeholder 3">
            <a:extLst>
              <a:ext uri="{FF2B5EF4-FFF2-40B4-BE49-F238E27FC236}">
                <a16:creationId xmlns:a16="http://schemas.microsoft.com/office/drawing/2014/main" id="{6735FEAC-0E7B-34F5-1C27-FD29D2DC6B2A}"/>
              </a:ext>
            </a:extLst>
          </p:cNvPr>
          <p:cNvPicPr>
            <a:picLocks noGrp="1" noChangeAspect="1"/>
          </p:cNvPicPr>
          <p:nvPr>
            <p:ph idx="1"/>
          </p:nvPr>
        </p:nvPicPr>
        <p:blipFill>
          <a:blip r:embed="rId3"/>
          <a:stretch>
            <a:fillRect/>
          </a:stretch>
        </p:blipFill>
        <p:spPr>
          <a:xfrm>
            <a:off x="0" y="613458"/>
            <a:ext cx="9132425" cy="6221392"/>
          </a:xfrm>
          <a:prstGeom prst="rect">
            <a:avLst/>
          </a:prstGeom>
        </p:spPr>
      </p:pic>
    </p:spTree>
    <p:extLst>
      <p:ext uri="{BB962C8B-B14F-4D97-AF65-F5344CB8AC3E}">
        <p14:creationId xmlns:p14="http://schemas.microsoft.com/office/powerpoint/2010/main" val="4237322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D108CD-E015-75FB-8CD9-BD4146DDF32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51289"/>
            <a:ext cx="12060819" cy="6806711"/>
          </a:xfrm>
          <a:prstGeom prst="rect">
            <a:avLst/>
          </a:prstGeom>
        </p:spPr>
      </p:pic>
      <p:sp>
        <p:nvSpPr>
          <p:cNvPr id="2" name="Title 1">
            <a:extLst>
              <a:ext uri="{FF2B5EF4-FFF2-40B4-BE49-F238E27FC236}">
                <a16:creationId xmlns:a16="http://schemas.microsoft.com/office/drawing/2014/main" id="{DD0E9F7E-6B3F-9E89-27C9-BBA435F8F4A0}"/>
              </a:ext>
            </a:extLst>
          </p:cNvPr>
          <p:cNvSpPr>
            <a:spLocks noGrp="1"/>
          </p:cNvSpPr>
          <p:nvPr>
            <p:ph type="title"/>
          </p:nvPr>
        </p:nvSpPr>
        <p:spPr>
          <a:xfrm>
            <a:off x="247891" y="51289"/>
            <a:ext cx="10515600" cy="1325563"/>
          </a:xfrm>
        </p:spPr>
        <p:txBody>
          <a:bodyPr/>
          <a:lstStyle/>
          <a:p>
            <a:pPr algn="ctr"/>
            <a:r>
              <a:rPr lang="en-IN" dirty="0">
                <a:latin typeface="Times New Roman" panose="02020603050405020304" pitchFamily="18" charset="0"/>
                <a:cs typeface="Times New Roman" panose="02020603050405020304" pitchFamily="18" charset="0"/>
              </a:rPr>
              <a:t>Waveform</a:t>
            </a:r>
          </a:p>
        </p:txBody>
      </p:sp>
      <p:pic>
        <p:nvPicPr>
          <p:cNvPr id="5" name="Content Placeholder 4">
            <a:extLst>
              <a:ext uri="{FF2B5EF4-FFF2-40B4-BE49-F238E27FC236}">
                <a16:creationId xmlns:a16="http://schemas.microsoft.com/office/drawing/2014/main" id="{8FF1822B-3281-8826-5627-4C421FFE7E43}"/>
              </a:ext>
            </a:extLst>
          </p:cNvPr>
          <p:cNvPicPr>
            <a:picLocks noGrp="1" noChangeAspect="1"/>
          </p:cNvPicPr>
          <p:nvPr>
            <p:ph idx="1"/>
          </p:nvPr>
        </p:nvPicPr>
        <p:blipFill>
          <a:blip r:embed="rId3"/>
          <a:stretch>
            <a:fillRect/>
          </a:stretch>
        </p:blipFill>
        <p:spPr>
          <a:xfrm>
            <a:off x="0" y="1229032"/>
            <a:ext cx="12192000" cy="4890217"/>
          </a:xfrm>
          <a:prstGeom prst="rect">
            <a:avLst/>
          </a:prstGeom>
        </p:spPr>
      </p:pic>
    </p:spTree>
    <p:extLst>
      <p:ext uri="{BB962C8B-B14F-4D97-AF65-F5344CB8AC3E}">
        <p14:creationId xmlns:p14="http://schemas.microsoft.com/office/powerpoint/2010/main" val="3920721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98F288-A6C8-DE96-2A7A-D911072216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0108"/>
            <a:ext cx="12192000" cy="6878215"/>
          </a:xfrm>
          <a:prstGeom prst="rect">
            <a:avLst/>
          </a:prstGeom>
        </p:spPr>
      </p:pic>
      <p:sp>
        <p:nvSpPr>
          <p:cNvPr id="2" name="Title 1">
            <a:extLst>
              <a:ext uri="{FF2B5EF4-FFF2-40B4-BE49-F238E27FC236}">
                <a16:creationId xmlns:a16="http://schemas.microsoft.com/office/drawing/2014/main" id="{14C97548-4C93-C77E-E0BE-E29A3237044A}"/>
              </a:ext>
            </a:extLst>
          </p:cNvPr>
          <p:cNvSpPr>
            <a:spLocks noGrp="1"/>
          </p:cNvSpPr>
          <p:nvPr>
            <p:ph type="title"/>
          </p:nvPr>
        </p:nvSpPr>
        <p:spPr>
          <a:xfrm>
            <a:off x="942372" y="263052"/>
            <a:ext cx="10515600" cy="1325563"/>
          </a:xfrm>
        </p:spPr>
        <p:txBody>
          <a:bodyPr/>
          <a:lstStyle/>
          <a:p>
            <a:pPr algn="ctr"/>
            <a:r>
              <a:rPr lang="en-IN" dirty="0">
                <a:latin typeface="Times New Roman" panose="02020603050405020304" pitchFamily="18" charset="0"/>
                <a:cs typeface="Times New Roman" panose="02020603050405020304" pitchFamily="18" charset="0"/>
              </a:rPr>
              <a:t>Applications</a:t>
            </a:r>
          </a:p>
        </p:txBody>
      </p:sp>
      <p:sp>
        <p:nvSpPr>
          <p:cNvPr id="4" name="Rectangle 1">
            <a:extLst>
              <a:ext uri="{FF2B5EF4-FFF2-40B4-BE49-F238E27FC236}">
                <a16:creationId xmlns:a16="http://schemas.microsoft.com/office/drawing/2014/main" id="{DC84EF8D-C51F-6FF7-2974-0A7D10D00AAE}"/>
              </a:ext>
            </a:extLst>
          </p:cNvPr>
          <p:cNvSpPr>
            <a:spLocks noGrp="1" noChangeArrowheads="1"/>
          </p:cNvSpPr>
          <p:nvPr>
            <p:ph idx="1"/>
          </p:nvPr>
        </p:nvSpPr>
        <p:spPr bwMode="auto">
          <a:xfrm>
            <a:off x="1664673" y="1865614"/>
            <a:ext cx="10022305"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in automatic vending machines for snacks, drinks, and coffee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in ticket dispensing systems (bus, train, metro)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in ATM and cash handling systems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in parking ticket/payment machines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in industrial automation systems for control operations </a:t>
            </a:r>
          </a:p>
        </p:txBody>
      </p:sp>
    </p:spTree>
    <p:extLst>
      <p:ext uri="{BB962C8B-B14F-4D97-AF65-F5344CB8AC3E}">
        <p14:creationId xmlns:p14="http://schemas.microsoft.com/office/powerpoint/2010/main" val="2834452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8643F8-BC18-C4A7-AEC0-F520C68F92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280739" cy="6858000"/>
          </a:xfrm>
          <a:prstGeom prst="rect">
            <a:avLst/>
          </a:prstGeom>
        </p:spPr>
      </p:pic>
      <p:sp>
        <p:nvSpPr>
          <p:cNvPr id="2" name="Title 1">
            <a:extLst>
              <a:ext uri="{FF2B5EF4-FFF2-40B4-BE49-F238E27FC236}">
                <a16:creationId xmlns:a16="http://schemas.microsoft.com/office/drawing/2014/main" id="{DCD3FA84-2060-25E3-F2E6-BCE8F0F8020A}"/>
              </a:ext>
            </a:extLst>
          </p:cNvPr>
          <p:cNvSpPr>
            <a:spLocks noGrp="1"/>
          </p:cNvSpPr>
          <p:nvPr>
            <p:ph type="title"/>
          </p:nvPr>
        </p:nvSpPr>
        <p:spPr>
          <a:xfrm>
            <a:off x="838200" y="2766218"/>
            <a:ext cx="10515600" cy="1325563"/>
          </a:xfrm>
        </p:spPr>
        <p:txBody>
          <a:bodyPr/>
          <a:lstStyle/>
          <a:p>
            <a:pPr algn="ctr"/>
            <a:r>
              <a:rPr lang="en-IN" b="1" dirty="0">
                <a:latin typeface="Times New Roman" panose="02020603050405020304" pitchFamily="18" charset="0"/>
                <a:cs typeface="Times New Roman" panose="02020603050405020304" pitchFamily="18" charset="0"/>
              </a:rPr>
              <a:t>THANK YOU</a:t>
            </a:r>
          </a:p>
        </p:txBody>
      </p:sp>
      <p:pic>
        <p:nvPicPr>
          <p:cNvPr id="5" name="Content Placeholder 4">
            <a:extLst>
              <a:ext uri="{FF2B5EF4-FFF2-40B4-BE49-F238E27FC236}">
                <a16:creationId xmlns:a16="http://schemas.microsoft.com/office/drawing/2014/main" id="{1B1F8C96-476D-0C8F-EECE-C86893E98F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flipV="1">
            <a:off x="10687233" y="6176963"/>
            <a:ext cx="72658" cy="46037"/>
          </a:xfrm>
          <a:prstGeom prst="rect">
            <a:avLst/>
          </a:prstGeom>
        </p:spPr>
      </p:pic>
    </p:spTree>
    <p:extLst>
      <p:ext uri="{BB962C8B-B14F-4D97-AF65-F5344CB8AC3E}">
        <p14:creationId xmlns:p14="http://schemas.microsoft.com/office/powerpoint/2010/main" val="969280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498</TotalTime>
  <Words>378</Words>
  <Application>Microsoft Office PowerPoint</Application>
  <PresentationFormat>Widescreen</PresentationFormat>
  <Paragraphs>46</Paragraphs>
  <Slides>15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FSM-Based Multi-Product Vending Machine using Verilog HDL</vt:lpstr>
      <vt:lpstr>Introduction </vt:lpstr>
      <vt:lpstr>Objectives</vt:lpstr>
      <vt:lpstr>Problem Statement</vt:lpstr>
      <vt:lpstr>Block Diagram</vt:lpstr>
      <vt:lpstr>System Specifications </vt:lpstr>
      <vt:lpstr>State Representation</vt:lpstr>
      <vt:lpstr>PowerPoint Presentation</vt:lpstr>
      <vt:lpstr> Design Code </vt:lpstr>
      <vt:lpstr>PowerPoint Presentation</vt:lpstr>
      <vt:lpstr>PowerPoint Presentation</vt:lpstr>
      <vt:lpstr>Test Bench </vt:lpstr>
      <vt:lpstr>Waveform</vt:lpstr>
      <vt:lpstr>Applications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HITHESH NAYAK</dc:creator>
  <cp:lastModifiedBy>HITHESH NAYAK</cp:lastModifiedBy>
  <cp:revision>5</cp:revision>
  <dcterms:created xsi:type="dcterms:W3CDTF">2026-03-26T11:21:53Z</dcterms:created>
  <dcterms:modified xsi:type="dcterms:W3CDTF">2026-03-27T11:18:16Z</dcterms:modified>
</cp:coreProperties>
</file>